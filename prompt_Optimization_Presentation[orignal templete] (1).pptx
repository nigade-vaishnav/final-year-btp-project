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3FA29F-0AC0-49EA-8672-F9E056A50885}">
  <a:tblStyle styleId="{9B3FA29F-0AC0-49EA-8672-F9E056A508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8D90C2-A136-4393-A6D8-145EADF324D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469b86ffe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d469b86ffe_2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g3d469b86ffe_2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469b86f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d469b86ff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g3d469b86ff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469b86ffe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469b86ffe_2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3d469b86ffe_2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469b86ff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469b86ffe_0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d469b86ffe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469b86ff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d469b86ffe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g3d469b86ffe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469b86ff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3d469b86ff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g3d469b86ff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469b86ff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3d469b86ff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g3d469b86ff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469b86ff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d469b86ffe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4" name="Google Shape;494;g3d469b86ffe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469b86ff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d469b86ffe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5" name="Google Shape;505;g3d469b86ffe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469b86ff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3d469b86ffe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7" name="Google Shape;517;g3d469b86ffe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469b86ff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3d469b86ffe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8" name="Google Shape;528;g3d469b86ffe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469b86ff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g3d469b86ffe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g3d469b86ffe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469b86ff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g3d469b86ffe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2" name="Google Shape;552;g3d469b86ffe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469b86ffe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g3d469b86ffe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4" name="Google Shape;564;g3d469b86ffe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469b86ffe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469b86ffe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d469b86ffe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469b86ff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g3d469b86ffe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5" name="Google Shape;585;g3d469b86ffe_0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47fdfd0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d47fdfd0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3d47fdfd09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" name="Google Shape;61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5" name="Google Shape;615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5" name="Google Shape;62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6" name="Google Shape;626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52582ac17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d52582ac17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3d52582ac17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image" Target="../media/image1.jpg"/><Relationship Id="rId3" Type="http://schemas.openxmlformats.org/officeDocument/2006/relationships/slide" Target="slide3.xml"/><Relationship Id="rId7" Type="http://schemas.openxmlformats.org/officeDocument/2006/relationships/slide" Target="slide8.xml"/><Relationship Id="rId12" Type="http://schemas.openxmlformats.org/officeDocument/2006/relationships/slide" Target="slide5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22.xml"/><Relationship Id="rId5" Type="http://schemas.openxmlformats.org/officeDocument/2006/relationships/slide" Target="slide5.xml"/><Relationship Id="rId10" Type="http://schemas.openxmlformats.org/officeDocument/2006/relationships/slide" Target="slide14.xml"/><Relationship Id="rId4" Type="http://schemas.openxmlformats.org/officeDocument/2006/relationships/slide" Target="slide4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ctrTitle"/>
          </p:nvPr>
        </p:nvSpPr>
        <p:spPr>
          <a:xfrm>
            <a:off x="586706" y="839600"/>
            <a:ext cx="10803000" cy="25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In-Context Learning Assisted Prompt Optimization in LLMs for Classification Tasks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1380300" y="3367100"/>
            <a:ext cx="9144000" cy="23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0"/>
              <a:buNone/>
            </a:pPr>
            <a:r>
              <a:rPr lang="en-US" sz="216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lang="en-US" sz="216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0"/>
              <a:buNone/>
            </a:pPr>
            <a:endParaRPr sz="216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60" dirty="0">
                <a:latin typeface="Times New Roman"/>
                <a:ea typeface="Times New Roman"/>
                <a:cs typeface="Times New Roman"/>
                <a:sym typeface="Times New Roman"/>
              </a:rPr>
              <a:t>Vaishnav Nigade</a:t>
            </a:r>
            <a:endParaRPr sz="216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6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0"/>
              <a:buNone/>
            </a:pPr>
            <a:endParaRPr sz="216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1" y="23813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Indian Institute of Information Technology Kottayam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326580" y="5005051"/>
            <a:ext cx="44511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By,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Sushil Kumar Joshi-IIITK,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‘Department of CSE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</a:t>
            </a:fld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OUTLINE:</a:t>
            </a: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838200" y="1843695"/>
            <a:ext cx="10515600" cy="4333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514350" lvl="0" indent="-4734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65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action="ppaction://hlinksldjump"/>
              </a:rPr>
              <a:t>Introduction</a:t>
            </a:r>
            <a:endParaRPr sz="2965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7344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65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action="ppaction://hlinksldjump"/>
              </a:rPr>
              <a:t>Applications</a:t>
            </a:r>
            <a:endParaRPr sz="2565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action="ppaction://hlinksldjump"/>
              </a:rPr>
              <a:t>Literature Review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action="ppaction://hlinksldjump"/>
              </a:rPr>
              <a:t>Problem Statement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action="ppaction://hlinksldjump"/>
              </a:rPr>
              <a:t>Objective of Our Project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action="ppaction://hlinksldjump"/>
              </a:rPr>
              <a:t>Architecture 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2087"/>
              <a:buFont typeface="Times New Roman"/>
              <a:buAutoNum type="arabicParenR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918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action="ppaction://hlinksldjump"/>
              </a:rPr>
              <a:t>Methodology</a:t>
            </a:r>
            <a:endParaRPr sz="291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action="ppaction://hlinksldjump"/>
              </a:rPr>
              <a:t>Dataset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 action="ppaction://hlinksldjump"/>
              </a:rPr>
              <a:t>Future Work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3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AutoNum type="arabicParenR"/>
            </a:pPr>
            <a:r>
              <a:rPr lang="en-US" sz="2918" b="1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 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49294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arenR"/>
            </a:pPr>
            <a:r>
              <a:rPr lang="en-US" sz="2918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 action="ppaction://hlinksldjump"/>
              </a:rPr>
              <a:t>References</a:t>
            </a:r>
            <a:endParaRPr sz="291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02421" y="212118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838201" y="1824354"/>
            <a:ext cx="10835700" cy="3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of internet &amp; social media → massive spread of misinformation.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fact-checking is slow &amp; impractical.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ML/DL models: limited by redundancy &amp; lack of transparency.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 (e.g., ChatGPT) are powerful but: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explainability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 on static prompts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project:</a:t>
            </a: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</a:t>
            </a:r>
            <a:r>
              <a:rPr lang="en-US" sz="24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evolutionary algorithms + prompt optimization</a:t>
            </a: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improve </a:t>
            </a:r>
            <a:r>
              <a:rPr lang="en-US" sz="24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news detection</a:t>
            </a: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better </a:t>
            </a:r>
            <a:r>
              <a:rPr lang="en-US" sz="24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&amp; interpretability</a:t>
            </a:r>
            <a:r>
              <a:rPr lang="en-US" sz="240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2310" y="306575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2310" y="306575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838200" y="1369801"/>
            <a:ext cx="11109900" cy="41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Platforms</a:t>
            </a:r>
            <a:r>
              <a:rPr lang="en-US" sz="2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Real-time detection of fake news on Twitter, Facebook, Instagram.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 Agencies &amp; Journalism</a:t>
            </a:r>
            <a:r>
              <a:rPr lang="en-US" sz="2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Automated verification of news articles before publication.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&amp; Policy Makers</a:t>
            </a:r>
            <a:r>
              <a:rPr lang="en-US" sz="2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Identifying misinformation campaigns, enhancing public trust.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&amp; Awareness</a:t>
            </a:r>
            <a:r>
              <a:rPr lang="en-US" sz="2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Tools for students, researchers, and citizens to evaluate content credibility.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Cybersecurity</a:t>
            </a:r>
            <a:r>
              <a:rPr lang="en-US" sz="2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Preventing spread of propaganda, scams, and phishing attempts.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&amp; Brands</a:t>
            </a:r>
            <a:r>
              <a:rPr lang="en-US" sz="2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Protecting reputation by detecting fake narratives or false claims.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ldNum" idx="12"/>
          </p:nvPr>
        </p:nvSpPr>
        <p:spPr>
          <a:xfrm>
            <a:off x="8610600" y="63661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2310" y="306575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600891" y="600892"/>
            <a:ext cx="8974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  <p:graphicFrame>
        <p:nvGraphicFramePr>
          <p:cNvPr id="135" name="Google Shape;135;p18"/>
          <p:cNvGraphicFramePr/>
          <p:nvPr/>
        </p:nvGraphicFramePr>
        <p:xfrm>
          <a:off x="202131" y="13087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{9B3FA29F-0AC0-49EA-8672-F9E056A50885}</a:tableStyleId>
              </a:tblPr>
              <a:tblGrid>
                <a:gridCol w="71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3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Work &amp; Gap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Fake news detection via knowledgeable prompt learning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 Processing &amp; Management, 2022</a:t>
                      </a:r>
                      <a:endParaRPr sz="14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KPL, which integrates external knowledge into prompt learning for better fake news detection.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Broader dataset testing, improved knowledge integration, efficiency/scalability challenges.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Adversarial Contrastive Learning for Evidence-Aware Fake News Detection With Graph Neural Networks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Transactions on Knowledge and Data Engineering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Models claim + evidences as graphs, learns long-range semantics with GNNs, prunes redundancy via graph structure learning.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explicitly stated; implied directions include scaling to broader datasets, strengthening evidence retrieval, and exploring alternative graph structure /contrastive objectives.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selection and multi-task learning with knowledge transfer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 Sciences</a:t>
                      </a: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(Elsevier)</a:t>
                      </a:r>
                      <a:endParaRPr sz="14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taxonomy linking feature selection with multi-task learning and knowledge transfer; synthesizes methods, applications, and performance trends.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open challenges: scalable FS under task relatedness, reliable transfer, and standardized evaluation across tasks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2310" y="306575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600891" y="600891"/>
            <a:ext cx="903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3" name="Google Shape;143;p19"/>
          <p:cNvGraphicFramePr/>
          <p:nvPr/>
        </p:nvGraphicFramePr>
        <p:xfrm>
          <a:off x="177799" y="13087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{9B3FA29F-0AC0-49EA-8672-F9E056A50885}</a:tableStyleId>
              </a:tblPr>
              <a:tblGrid>
                <a:gridCol w="7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1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Work &amp; Gap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FNED: A Deep Network for Fake News Early Detection on Social Media.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ACM Transactions on Information Systems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Models early propagation as a sequence of status-sensitive crowd responses (text + user profile), feeds them to a CNN with position-aware attention and multi-region mean pooling, and uses a PU-Learning loop for scarce labels.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Broaden real-world validation and datasets, strengthen early-stage signals and user/structure features, and refine the PU-Learning/attention pipeline for robustness.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Fake news detection in multiple platforms and languages.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Expert Systems with Applications</a:t>
                      </a:r>
                      <a:endParaRPr sz="14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Text-only, platform/language-agnostic features evaluated across five datasets (English/Portuguese/Bulgarian); compare custom features, TF–IDF BoW, Word2Vec, and DCDistance with NB/KNN/SVM/RF; guard against leakage on Twitter via leave-topic-out CV;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Broaden multilingual/platform coverage, standardize evaluation, and explore stronger/text representations beyond current feature sets.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" name="Google Shape;14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Task: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Decide whether a given news article is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Fake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from its text (headline/body) using LLMs.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Current LLM judgments can be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brittle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hallucinate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vary with prompt wording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reducing trust.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Requirement: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Achieve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accurate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evidence-grounded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template-stable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predictions within practical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cost/latency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limits, across topics and writing styles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6" y="0"/>
            <a:ext cx="2212324" cy="103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Objective of Our Project: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838200" y="1917175"/>
            <a:ext cx="10515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539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romanUcPeriod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To design and implement an end-to-end, feature-aware LLM pipeline for classification, spanning feature extraction, reliability (outlier) filtering, evolutionary (genetic) feature selection, and structured prompt engineering, to deliver reliable, transparent, and cost-efficient Real/Fake decisions suitable for practical deployment.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6" y="0"/>
            <a:ext cx="2058125" cy="9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Architecture: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7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Ingestion → Feature Extraction → Outlier Removal → Evolutionary Feature Selection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Prompt Toolkit → In-Context Learning → LLM Head → Verdict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22" title="Screenshot 2025-09-15 at 7.51.17 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3050" y="1096150"/>
            <a:ext cx="3928659" cy="486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9</a:t>
            </a:fld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title"/>
          </p:nvPr>
        </p:nvSpPr>
        <p:spPr>
          <a:xfrm>
            <a:off x="927975" y="320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Compute indicators (readability, affect, nonfluency, entity types).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Filter outliers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in feature space (Mahalanobis + KNN).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Run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EFSA (genetic)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to select a compact, explainable subset.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Build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prompt fields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from selected indicators 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Choose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prompting schema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template strategy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(single/selection/ensemble).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Inference: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Indicators → Verdict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with label-only output rules.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10</a:t>
            </a:fld>
            <a:endParaRPr sz="1600"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5" y="0"/>
            <a:ext cx="2019575" cy="94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838200" y="320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Methodology I: Preprocessing &amp; Reliability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Compute indicators: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readability, affect, nonfluency, entity types, etc.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Outlier removal (train-time):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Mahalanobis + KNN on feature space to reduce noise.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Outputs: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cleaned text + stable indicator set → fed to EFSA.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Ablation (planned):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with/without outlier removal.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11</a:t>
            </a:fld>
            <a:endParaRPr sz="1600"/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526" y="0"/>
            <a:ext cx="2058125" cy="9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>
            <a:spLocks noGrp="1"/>
          </p:cNvSpPr>
          <p:nvPr>
            <p:ph type="title"/>
          </p:nvPr>
        </p:nvSpPr>
        <p:spPr>
          <a:xfrm>
            <a:off x="838200" y="499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Methodology II: EFSA (Genetic Feature Selection)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Chromosome: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feature subset;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Fitness: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validation macro-F1 (fixed prompt schema).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Ops: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selection / crossover / mutation; early-stop on no-improvement.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compact,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explainable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subset of indicators → drives prompt fields.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Ablation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full features vs EFSA subset.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12</a:t>
            </a:fld>
            <a:endParaRPr sz="1600"/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6" y="0"/>
            <a:ext cx="1980774" cy="9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362125" y="449120"/>
            <a:ext cx="1051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Dataset Used: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p26"/>
          <p:cNvGraphicFramePr/>
          <p:nvPr/>
        </p:nvGraphicFramePr>
        <p:xfrm>
          <a:off x="362117" y="16265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{9B3FA29F-0AC0-49EA-8672-F9E056A50885}</a:tableStyleId>
              </a:tblPr>
              <a:tblGrid>
                <a:gridCol w="105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5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Source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PolitiFact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Dataset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Political news articles fact-checked by experts.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Tabular (CSV): news (text), label (binary)</a:t>
                      </a:r>
                      <a:endParaRPr sz="1800" u="none" strike="noStrike" cap="none">
                        <a:solidFill>
                          <a:srgbClr val="151517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Availability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(via Fake NewsNet).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Best For: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Fake news detection in political contexts.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Label Scheme: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Binary: '0' (False/Fake), '1' (True/Real)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5" name="Google Shape;21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13</a:t>
            </a:fld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Dataset &amp; Train, Validation, Test Splits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815100" y="5700000"/>
            <a:ext cx="8025900" cy="10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Rows: 17089 ; Train: 80%;  Validation: 20%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Rows: 4227</a:t>
            </a: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27" title="train_test_spli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650" y="927525"/>
            <a:ext cx="5465176" cy="446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 title="dataset_overvie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0950" y="1224199"/>
            <a:ext cx="5359776" cy="41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128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14</a:t>
            </a:fld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 Model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112465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Separates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Fake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news using the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best-fit hyperplane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Maximizes margin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between the two classes for better generalization.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Uses key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text features/indicators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form the decision boundary.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Support vectors determine the final classifier.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Performs well in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high-dimensional text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data.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021" y="6845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15</a:t>
            </a:fld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752550" y="684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SVM Model Features Analysis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29" title="svm_top_negative_featur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950" y="1350788"/>
            <a:ext cx="5514150" cy="413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 title="top_positive_features_sv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6725" y="1350800"/>
            <a:ext cx="6011674" cy="41356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/>
        </p:nvSpPr>
        <p:spPr>
          <a:xfrm>
            <a:off x="2626475" y="5486400"/>
            <a:ext cx="1848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Negative SVM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8509225" y="5486400"/>
            <a:ext cx="1848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Positive SVM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7021" y="6845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16</a:t>
            </a:fld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838200" y="179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Random Forest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30"/>
          <p:cNvSpPr txBox="1">
            <a:spLocks noGrp="1"/>
          </p:cNvSpPr>
          <p:nvPr>
            <p:ph type="body" idx="1"/>
          </p:nvPr>
        </p:nvSpPr>
        <p:spPr>
          <a:xfrm>
            <a:off x="1040425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Ensemble model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combining multiple decision trees.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Each tree learns from a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random subset of data and features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Final prediction made using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majority voting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across trees.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Handles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non-linear patterns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noisy data effectively.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Reduces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overfitting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compared to single decision trees.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Performs well with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text-derived indicators/features.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021" y="6845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17</a:t>
            </a:fld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572900" y="2585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Random Forest Model Features Analysis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31" title="top_negative_features_random_fore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6025" y="1833500"/>
            <a:ext cx="4922400" cy="36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1" title="top_positive_features_random_fores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2700" y="1833500"/>
            <a:ext cx="4922400" cy="36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/>
        </p:nvSpPr>
        <p:spPr>
          <a:xfrm>
            <a:off x="8275000" y="5486400"/>
            <a:ext cx="2276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Positive Random Forest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2626475" y="5486400"/>
            <a:ext cx="2276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Negative Random Forest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44625" y="73150"/>
            <a:ext cx="1678500" cy="7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18</a:t>
            </a:fld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453900" y="280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XGBoost Features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2"/>
          <p:cNvSpPr txBox="1">
            <a:spLocks noGrp="1"/>
          </p:cNvSpPr>
          <p:nvPr>
            <p:ph type="body" idx="1"/>
          </p:nvPr>
        </p:nvSpPr>
        <p:spPr>
          <a:xfrm>
            <a:off x="868550" y="1522325"/>
            <a:ext cx="10893000" cy="47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gradient boosting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to iteratively improve weak decision trees.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.Highlights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top positive features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strongly linked with Fake news indicators.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Highlight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top negative features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associated with real/Trustworthy news signals.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Handles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non-linear patterns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and complex interactions effectively.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Provides clear interpretability through gain, weight, and cover metrics.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9676" y="0"/>
            <a:ext cx="2058125" cy="9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19</a:t>
            </a:fld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XGBoost Features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33" title="top_negative_features_xgboo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025" y="1833500"/>
            <a:ext cx="5510000" cy="366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3" title="top_positive_features_xgboos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3125" y="1690825"/>
            <a:ext cx="5627926" cy="38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8275000" y="5486400"/>
            <a:ext cx="1848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Positive XGBoost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2626475" y="5486400"/>
            <a:ext cx="1848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Negative XGBoost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89676" y="0"/>
            <a:ext cx="1981050" cy="9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20</a:t>
            </a:fld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53950" y="3954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Model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34" title="rf_confusion_matri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175" y="1690825"/>
            <a:ext cx="3446825" cy="258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4" title="svm_confusion_matri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9600" y="1690825"/>
            <a:ext cx="3446825" cy="258510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 txBox="1"/>
          <p:nvPr/>
        </p:nvSpPr>
        <p:spPr>
          <a:xfrm>
            <a:off x="1945525" y="4338525"/>
            <a:ext cx="13134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5507550" y="4426125"/>
            <a:ext cx="11769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4" title="xgboost_confusion_matrix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9375" y="1721150"/>
            <a:ext cx="3406374" cy="25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 txBox="1"/>
          <p:nvPr/>
        </p:nvSpPr>
        <p:spPr>
          <a:xfrm>
            <a:off x="9163450" y="4377450"/>
            <a:ext cx="16731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1147875" y="5223750"/>
            <a:ext cx="10476600" cy="10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Times New Roman"/>
              <a:buChar char="●"/>
            </a:pPr>
            <a:r>
              <a:rPr lang="en-US" sz="2400" b="0" i="0" u="none" strike="noStrike" cap="non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demonstrated the highest accuracy among the three models.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3" name="Google Shape;30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4001" y="0"/>
            <a:ext cx="2022050" cy="94188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21</a:t>
            </a:fld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 txBox="1">
            <a:spLocks noGrp="1"/>
          </p:cNvSpPr>
          <p:nvPr>
            <p:ph type="title"/>
          </p:nvPr>
        </p:nvSpPr>
        <p:spPr>
          <a:xfrm>
            <a:off x="838200" y="348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5"/>
          <p:cNvSpPr txBox="1">
            <a:spLocks noGrp="1"/>
          </p:cNvSpPr>
          <p:nvPr>
            <p:ph type="body" idx="1"/>
          </p:nvPr>
        </p:nvSpPr>
        <p:spPr>
          <a:xfrm>
            <a:off x="838200" y="15897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-US" sz="2060" b="1">
                <a:latin typeface="Times New Roman"/>
                <a:ea typeface="Times New Roman"/>
                <a:cs typeface="Times New Roman"/>
                <a:sym typeface="Times New Roman"/>
              </a:rPr>
              <a:t>LLM with Feature-Augmented Prompting:</a:t>
            </a:r>
            <a:endParaRPr sz="206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-US" sz="2060" b="1"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sz="2060">
                <a:latin typeface="Times New Roman"/>
                <a:ea typeface="Times New Roman"/>
                <a:cs typeface="Times New Roman"/>
                <a:sym typeface="Times New Roman"/>
              </a:rPr>
              <a:t>To move beyond traditional models and utilize an LLM for classification, guided by our proven feature selection.</a:t>
            </a:r>
            <a:endParaRPr sz="20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-US" sz="2060" b="1"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r>
              <a:rPr lang="en-US" sz="206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96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360"/>
              <a:buFont typeface="Times New Roman"/>
              <a:buChar char="•"/>
            </a:pPr>
            <a:r>
              <a:rPr lang="en-US" sz="2060">
                <a:latin typeface="Times New Roman"/>
                <a:ea typeface="Times New Roman"/>
                <a:cs typeface="Times New Roman"/>
                <a:sym typeface="Times New Roman"/>
              </a:rPr>
              <a:t>Instead of just providing raw text, we will construct a feature-augmented prompt.</a:t>
            </a:r>
            <a:endParaRPr sz="20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Font typeface="Times New Roman"/>
              <a:buChar char="•"/>
            </a:pPr>
            <a:r>
              <a:rPr lang="en-US" sz="2060">
                <a:latin typeface="Times New Roman"/>
                <a:ea typeface="Times New Roman"/>
                <a:cs typeface="Times New Roman"/>
                <a:sym typeface="Times New Roman"/>
              </a:rPr>
              <a:t>The prompt will include the original text and explicitly list the top positive (deceptive) and negative (truthful) features identified by our Genetic Algorithm that are present in that text.</a:t>
            </a:r>
            <a:endParaRPr sz="20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-US" sz="206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60" b="1"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r>
              <a:rPr lang="en-US" sz="2060">
                <a:latin typeface="Times New Roman"/>
                <a:ea typeface="Times New Roman"/>
                <a:cs typeface="Times New Roman"/>
                <a:sym typeface="Times New Roman"/>
              </a:rPr>
              <a:t>: By providing these features as clear "indicators," we guide the LLM's reasoning process, enabling it to focus on the most salient signals of deception and significantly improve prediction accuracy.</a:t>
            </a:r>
            <a:endParaRPr sz="20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endParaRPr sz="206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1701" y="0"/>
            <a:ext cx="2058125" cy="9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22</a:t>
            </a:fld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LLMs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6"/>
          <p:cNvSpPr txBox="1">
            <a:spLocks noGrp="1"/>
          </p:cNvSpPr>
          <p:nvPr>
            <p:ph type="body" idx="1"/>
          </p:nvPr>
        </p:nvSpPr>
        <p:spPr>
          <a:xfrm>
            <a:off x="838200" y="1490400"/>
            <a:ext cx="105156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Let the token sequence be: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model defines a probability over the whole sequence by chaining next-token probabilities: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Training minimizes negative log-likelihood (next-token prediction loss):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1" name="Google Shape;32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1476" y="0"/>
            <a:ext cx="2007325" cy="93502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23</a:t>
            </a:fld>
            <a:endParaRPr sz="1600"/>
          </a:p>
        </p:txBody>
      </p:sp>
      <p:pic>
        <p:nvPicPr>
          <p:cNvPr id="323" name="Google Shape;32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3050" y="1942125"/>
            <a:ext cx="2621350" cy="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3050" y="3287350"/>
            <a:ext cx="3439400" cy="110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4675" y="5173500"/>
            <a:ext cx="4555283" cy="11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>
            <a:spLocks noGrp="1"/>
          </p:cNvSpPr>
          <p:nvPr>
            <p:ph type="body" idx="1"/>
          </p:nvPr>
        </p:nvSpPr>
        <p:spPr>
          <a:xfrm>
            <a:off x="838200" y="1960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To further refine the LLM's predictive power by enabling it to learn from examples on-the-fly.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We will enhance our prompts by providing a few complete examples a technique known as In-Context Learning.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Each prompt will contain the target text (with its feature indicators) plus 1-2 examples of clearly deceptive text and 1-2 examples of clearly  truthful text, also presented with their key feature indicators.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: This allows the LLM to recognize complex patterns and adapt its classification strategy in real-time, boosting performance and robustness without requiring costly model fine-tuning.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76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Advanced Enhancement with In-Context Learning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24</a:t>
            </a:fld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In-Context Learning works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4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400"/>
              <a:buFont typeface="Times New Roman"/>
              <a:buChar char="•"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Let previous examples (demos) be: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44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400"/>
              <a:buFont typeface="Times New Roman"/>
              <a:buChar char="•"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At test time we give the demos + a new input     in the prompt. The model predicts a distribution over outputs: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2" name="Google Shape;34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6900" y="2580950"/>
            <a:ext cx="1937225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1025" y="3149675"/>
            <a:ext cx="326450" cy="3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4025" y="4768650"/>
            <a:ext cx="6880351" cy="5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25</a:t>
            </a:fld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3" name="Google Shape;353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26</a:t>
            </a:fld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Recap: Problem Setting &amp; Motivation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609600" lvl="0" indent="-455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spread of fake news on social media makes manual verification infeasible.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55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ML/DL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3434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 on handcrafted features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3434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lack robustness and interpretability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55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powerful but: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3434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Sensitive to prompt wording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3434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Rely on static prompts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55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 so far: Build a reliable,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feature-driven pipeline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before introducing LLMs.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40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pic>
        <p:nvPicPr>
          <p:cNvPr id="362" name="Google Shape;36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27</a:t>
            </a:fld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Recap: Methodology &amp; Pipeline Implemented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10000"/>
          </a:bodyPr>
          <a:lstStyle/>
          <a:p>
            <a:pPr marL="609600" lvl="0" indent="-44259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2291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Linguistic style, text complexity, psychological &amp; affective indicators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4259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 Enhancement: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2291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 removal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Mahalanobis Distance + KNN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4259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Evolutionary Feature Selection (EFSA)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2291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Genetic Algorithm selects a compact, informative feature subset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2291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 performance while improving interpretability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44259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Models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Evaluated: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2291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SVM, Random Forest, XGBoost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41"/>
          <p:cNvSpPr txBox="1">
            <a:spLocks noGrp="1"/>
          </p:cNvSpPr>
          <p:nvPr>
            <p:ph type="ftr" idx="4294967295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pic>
        <p:nvPicPr>
          <p:cNvPr id="371" name="Google Shape;37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28</a:t>
            </a:fld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title"/>
          </p:nvPr>
        </p:nvSpPr>
        <p:spPr>
          <a:xfrm>
            <a:off x="362125" y="449120"/>
            <a:ext cx="1051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Dataset Used: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" name="Google Shape;37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0" name="Google Shape;380;p42"/>
          <p:cNvGraphicFramePr/>
          <p:nvPr/>
        </p:nvGraphicFramePr>
        <p:xfrm>
          <a:off x="362117" y="16265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{9B3FA29F-0AC0-49EA-8672-F9E056A50885}</a:tableStyleId>
              </a:tblPr>
              <a:tblGrid>
                <a:gridCol w="105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5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Source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PolitiFact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Dataset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Political news articles fact-checked by experts.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Tabular (CSV): news (text), label (binary)</a:t>
                      </a:r>
                      <a:endParaRPr sz="1800" u="none" strike="noStrike" cap="none">
                        <a:solidFill>
                          <a:srgbClr val="151517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Availability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(via Fake NewsNet).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Best For: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Fake news detection in political contexts.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Label Scheme: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Binary: '0' (False/Fake), '1' (True/Real)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1" name="Google Shape;38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29</a:t>
            </a:fld>
            <a:endParaRPr sz="1600"/>
          </a:p>
        </p:txBody>
      </p:sp>
      <p:sp>
        <p:nvSpPr>
          <p:cNvPr id="382" name="Google Shape;382;p42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>
            <a:spLocks noGrp="1"/>
          </p:cNvSpPr>
          <p:nvPr>
            <p:ph type="title"/>
          </p:nvPr>
        </p:nvSpPr>
        <p:spPr>
          <a:xfrm>
            <a:off x="753950" y="3954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Model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9" name="Google Shape;389;p43" title="rf_confusion_matri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175" y="1690825"/>
            <a:ext cx="3446825" cy="258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3" title="svm_confusion_matri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9600" y="1690825"/>
            <a:ext cx="3446825" cy="258510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3"/>
          <p:cNvSpPr txBox="1"/>
          <p:nvPr/>
        </p:nvSpPr>
        <p:spPr>
          <a:xfrm>
            <a:off x="1945525" y="4338525"/>
            <a:ext cx="13134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3"/>
          <p:cNvSpPr txBox="1"/>
          <p:nvPr/>
        </p:nvSpPr>
        <p:spPr>
          <a:xfrm>
            <a:off x="5507550" y="4426125"/>
            <a:ext cx="11769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43" title="xgboost_confusion_matrix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9375" y="1721150"/>
            <a:ext cx="3406374" cy="25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3"/>
          <p:cNvSpPr txBox="1"/>
          <p:nvPr/>
        </p:nvSpPr>
        <p:spPr>
          <a:xfrm>
            <a:off x="9163450" y="4377450"/>
            <a:ext cx="16731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1147875" y="5223750"/>
            <a:ext cx="10476600" cy="10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Times New Roman"/>
              <a:buChar char="●"/>
            </a:pPr>
            <a:r>
              <a:rPr lang="en-US" sz="2400" b="0" i="0" u="none" strike="noStrike" cap="non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demonstrated the highest accuracy among the three models.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4001" y="0"/>
            <a:ext cx="2022050" cy="94188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30</a:t>
            </a:fld>
            <a:endParaRPr sz="1600"/>
          </a:p>
        </p:txBody>
      </p:sp>
      <p:sp>
        <p:nvSpPr>
          <p:cNvPr id="398" name="Google Shape;398;p43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LLMs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44"/>
          <p:cNvSpPr txBox="1">
            <a:spLocks noGrp="1"/>
          </p:cNvSpPr>
          <p:nvPr>
            <p:ph type="body" idx="1"/>
          </p:nvPr>
        </p:nvSpPr>
        <p:spPr>
          <a:xfrm>
            <a:off x="838200" y="1490400"/>
            <a:ext cx="105156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Let the token sequence be: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model defines a probability over the whole sequence by chaining next-token probabilities: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Training minimizes negative log-likelihood (next-token prediction loss):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1476" y="0"/>
            <a:ext cx="2007325" cy="93502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31</a:t>
            </a:fld>
            <a:endParaRPr sz="1600"/>
          </a:p>
        </p:txBody>
      </p:sp>
      <p:pic>
        <p:nvPicPr>
          <p:cNvPr id="408" name="Google Shape;408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3050" y="1942125"/>
            <a:ext cx="2621350" cy="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14675" y="5173500"/>
            <a:ext cx="4555283" cy="110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2525" y="3199650"/>
            <a:ext cx="3506624" cy="11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4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Base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Model used: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microsoft/phi-2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Size: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2.7B parameters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The Context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model was pre-trained on massive amounts of internet text.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Not trained specifically for fake-news classification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The Goal: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We need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Fine-Tuning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to adapt this general knowledge to our specific classification task.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pic>
        <p:nvPicPr>
          <p:cNvPr id="420" name="Google Shape;42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32</a:t>
            </a:fld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LLM Fine-Tuning Strategy (Recap)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Base Model: Phi-2 (2.7B)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Parameter-efficient fine-tuning using QLoRA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Frozen 4-bit quantized base weights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Trainable low-rank adapters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Mathematical Formulation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9" name="Google Shape;42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750" y="4536975"/>
            <a:ext cx="4236500" cy="6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1450" y="5404938"/>
            <a:ext cx="4569096" cy="88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6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433" name="Google Shape;43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33</a:t>
            </a:fld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Why In-Context Learning (ICL)?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4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Limitations of the Fine-Tuned LLM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Relies only on learned parameters from training data.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Performance may degrade on ambiguous or unseen news articles.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Sensitive to prompt variations and contextual nuances.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Motivation for ICL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Enables the model to learn from examples at inference time.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Provides task-specific guidance without retraining.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Enhances robustness and adaptability.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1" name="Google Shape;44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7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443" name="Google Shape;44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34</a:t>
            </a:fld>
            <a:endParaRPr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8"/>
          <p:cNvSpPr txBox="1">
            <a:spLocks noGrp="1"/>
          </p:cNvSpPr>
          <p:nvPr>
            <p:ph type="title"/>
          </p:nvPr>
        </p:nvSpPr>
        <p:spPr>
          <a:xfrm>
            <a:off x="424855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48"/>
          <p:cNvSpPr txBox="1">
            <a:spLocks noGrp="1"/>
          </p:cNvSpPr>
          <p:nvPr>
            <p:ph type="body" idx="1"/>
          </p:nvPr>
        </p:nvSpPr>
        <p:spPr>
          <a:xfrm>
            <a:off x="415600" y="1980602"/>
            <a:ext cx="4202700" cy="4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microsoft/phi-2 (2.7B)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Fine-tuning: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QLoRA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Politifact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Accuracy: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75%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Train: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13,468 (Real: 7658, Fake: 5810)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Test: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4,228 (Real: 2399, Fake: 1829)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0" name="Google Shape;450;p48" title="test_metrics_barchart.png"/>
          <p:cNvPicPr preferRelativeResize="0"/>
          <p:nvPr/>
        </p:nvPicPr>
        <p:blipFill rotWithShape="1">
          <a:blip r:embed="rId3">
            <a:alphaModFix/>
          </a:blip>
          <a:srcRect t="2700" b="-2700"/>
          <a:stretch/>
        </p:blipFill>
        <p:spPr>
          <a:xfrm>
            <a:off x="4405400" y="1717433"/>
            <a:ext cx="7290930" cy="437456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8"/>
          <p:cNvSpPr txBox="1">
            <a:spLocks noGrp="1"/>
          </p:cNvSpPr>
          <p:nvPr>
            <p:ph type="ftr" idx="4294967295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pic>
        <p:nvPicPr>
          <p:cNvPr id="452" name="Google Shape;452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35</a:t>
            </a:fld>
            <a:endParaRPr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In-Context Learning (ICL) Intro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In-Context Learning (ICL) adapts the LLM to a task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without updating weights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, by providing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examples + retrieved context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inside the prompt.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Prompt structure (context + demonstrations + query):</a:t>
            </a:r>
            <a:b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Prediction with ICL:</a:t>
            </a:r>
            <a:b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Key point: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Only the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input context changes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, model parameters θ stay fixed.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1" name="Google Shape;46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700" y="3301575"/>
            <a:ext cx="5714599" cy="48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700" y="4380700"/>
            <a:ext cx="5714600" cy="585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9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465" name="Google Shape;465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36</a:t>
            </a:fld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Retrieval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have a database of news items: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a query article qq, retrieval selects top-kk items: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These retrieved items become ICL demonstrations in the prompt: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3" name="Google Shape;47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8488" y="2377450"/>
            <a:ext cx="3275025" cy="5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5425" y="3591275"/>
            <a:ext cx="4521139" cy="5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38663" y="4933000"/>
            <a:ext cx="4714685" cy="5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0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478" name="Google Shape;478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37</a:t>
            </a:fld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Font typeface="Times New Roman"/>
              <a:buAutoNum type="arabicPeriod"/>
            </a:pPr>
            <a: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  <a:t>Dense Retrieval (Embeddings – multi-qa-MiniLM)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Converts text into dense semantic vectors using a transformer-based embedding model.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Captures contextual similarity beyond exact keyword matches.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Mathematical Formulation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Key Advantage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Retrieves semantically similar news articles even when wording differs.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6" name="Google Shape;48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3498" y="3720300"/>
            <a:ext cx="1145014" cy="3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9525" y="4178325"/>
            <a:ext cx="3952975" cy="5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1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490" name="Google Shape;490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38</a:t>
            </a:fld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Dense Retrieval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7" name="Google Shape;497;p52" title="dense_llm_confusion_matri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7850" y="2263325"/>
            <a:ext cx="4415950" cy="367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2" title="dense_microsoft_phi-2_metrics_barchar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100" y="2263326"/>
            <a:ext cx="6306744" cy="367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2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01" name="Google Shape;501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39</a:t>
            </a:fld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BM25 Retrieval (Lexical Matching)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 probabilistic ranking algorithm based on term frequency and inverse document frequency.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Effective for exact keyword matching.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Mathematical Formulation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Key Advantage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Strong baseline for traditional information retrieval tasks.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9" name="Google Shape;50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5450" y="3675575"/>
            <a:ext cx="4233400" cy="6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2625" y="3197313"/>
            <a:ext cx="3438124" cy="16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3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13" name="Google Shape;513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40</a:t>
            </a:fld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BM25 Retrieval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/>
          </a:p>
        </p:txBody>
      </p:sp>
      <p:pic>
        <p:nvPicPr>
          <p:cNvPr id="520" name="Google Shape;520;p54" title="bm25_llm_confusion_matri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7850" y="2161250"/>
            <a:ext cx="4415950" cy="367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4" title="bm25_microsoft_phi-2_metrics_barchar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225" y="2129025"/>
            <a:ext cx="6417198" cy="3744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4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24" name="Google Shape;524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41</a:t>
            </a:fld>
            <a:endParaRPr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 TF-IDF Retrieval (Vector Space Model)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Represents documents using term importance based on frequency and rarity.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Provides a lightweight and interpretable baseline.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Mathematical Formulation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Key Advantage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Simple, fast, and computationally efficient.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5775" y="4104950"/>
            <a:ext cx="2000452" cy="4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4815" y="4651950"/>
            <a:ext cx="3342373" cy="4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5875" y="3283850"/>
            <a:ext cx="3660250" cy="7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5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37" name="Google Shape;53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42</a:t>
            </a:fld>
            <a:endParaRPr sz="1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TF-IDF Retrieval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/>
          </a:p>
        </p:txBody>
      </p:sp>
      <p:pic>
        <p:nvPicPr>
          <p:cNvPr id="544" name="Google Shape;544;p56" title="tfidf_llm_confusion_matri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7850" y="2161250"/>
            <a:ext cx="4415950" cy="3679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6" title="tfidf_microsoft_phi-2_metrics_barchar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525" y="2161250"/>
            <a:ext cx="6306734" cy="367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6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48" name="Google Shape;548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43</a:t>
            </a:fld>
            <a:endParaRPr sz="1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1021" y="209"/>
            <a:ext cx="1751379" cy="81536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Uses Sentence-BERT to generate semantically meaningful sentence embeddings.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Designed specifically for similarity and retrieval tasks.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Mathematical Formulation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Key Advantage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Captures deeper semantic relationships than TF-IDF and BM25.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6" name="Google Shape;556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9702" y="3423325"/>
            <a:ext cx="2159800" cy="39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2513" y="4044750"/>
            <a:ext cx="3234167" cy="43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7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59" name="Google Shape;559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44</a:t>
            </a:fld>
            <a:endParaRPr sz="1600"/>
          </a:p>
        </p:txBody>
      </p:sp>
      <p:sp>
        <p:nvSpPr>
          <p:cNvPr id="560" name="Google Shape;560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4. SBERT Retrieval (Sentence-Level Transformer Embeddings)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SBERT Retrieval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/>
          </a:p>
        </p:txBody>
      </p:sp>
      <p:pic>
        <p:nvPicPr>
          <p:cNvPr id="567" name="Google Shape;567;p58" title="sbert_llm_confusion_matri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8175" y="2044675"/>
            <a:ext cx="4415950" cy="367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8" title="sbert_microsoft_phi-2_metrics_barchar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050" y="2102975"/>
            <a:ext cx="6306744" cy="367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58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71" name="Google Shape;571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45</a:t>
            </a:fld>
            <a:endParaRPr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Classical baselines + all ICL methods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78" name="Google Shape;578;p59"/>
          <p:cNvGraphicFramePr/>
          <p:nvPr/>
        </p:nvGraphicFramePr>
        <p:xfrm>
          <a:off x="838200" y="230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{FA8D90C2-A136-4393-A6D8-145EADF324DC}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Model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Scenario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Accuracy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Precision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Recall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F1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SVM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Baseline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0.8158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0.7636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0.8316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0.7961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Random Forest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Baseline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0.8247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0.7878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0.8141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0.8008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XGBoost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Baseline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0.8394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0.7946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0.8480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0.8204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LLM (Phi-2)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QLoRA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0.75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0.71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Dense ICL + QLoRA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0.8325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0.7873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0.8398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0.8127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BM25 ICL + QLoRA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0.8243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0.7894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0.8097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0.7995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TF-IDF ICL + QLoRA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0.7961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0.7181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0.8704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0.7870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SBERT ICL + QLoRA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0.7912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0.8312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0.6490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0.7289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9" name="Google Shape;579;p59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80" name="Google Shape;580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46</a:t>
            </a:fld>
            <a:endParaRPr sz="1600"/>
          </a:p>
        </p:txBody>
      </p:sp>
      <p:pic>
        <p:nvPicPr>
          <p:cNvPr id="581" name="Google Shape;58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Final Result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571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achieves the highest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Phi-2 with Dense ICL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performs close to the best classical setup.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SVM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trail behind in both metrics.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The results show that </a:t>
            </a: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optimized LLMs can approach classical model performance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9" name="Google Shape;589;p60" title="overall_test_metrics_bar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8525" y="2016775"/>
            <a:ext cx="6132700" cy="367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0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592" name="Google Shape;592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47</a:t>
            </a:fld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AutoNum type="arabicPeriod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Explore larger instruction-tuned LLMs (e.g., Phi-3, LLaMA variants)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AutoNum type="arabicPeriod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Improve retrieval strategy using hybrid (lexical + semantic) scoring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AutoNum type="arabicPeriod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Optimize number of retrieved examples (adaptive top-k selection)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AutoNum type="arabicPeriod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Investigate real-time deployment and latency optimization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0" name="Google Shape;60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1"/>
          <p:cNvSpPr txBox="1">
            <a:spLocks noGrp="1"/>
          </p:cNvSpPr>
          <p:nvPr>
            <p:ph type="ftr" idx="4294967295"/>
          </p:nvPr>
        </p:nvSpPr>
        <p:spPr>
          <a:xfrm>
            <a:off x="4038600" y="636606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602" name="Google Shape;602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48</a:t>
            </a:fld>
            <a:endParaRPr sz="1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6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We extracted linguistic and psychological indicators from news text to construct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feature-augmented prompts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for reliable fake news detection.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Using these indicators, we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fine-tuned the Phi-2 Large Language Model with QLoRA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achieving efficient and cost-effective adaptation with an accuracy of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75%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further enhance performance, we integrated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In-Context Learning (ICL)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by retrieving relevant labeled examples using multiple retrieval techniques such as Dense Retrieval, BM25, TF-IDF, and SBERT.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Experimental results demonstrate that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ICL improves robustness and contextual understanding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with Dense Retrieval providing the most effective context for classification.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Overall, the proposed pipeline combines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feature engineering, parameter-efficient fine-tuning, and retrieval-augmented prompting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deliver accurate, interpretable, and scalable fake news detection.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62"/>
          <p:cNvSpPr txBox="1">
            <a:spLocks noGrp="1"/>
          </p:cNvSpPr>
          <p:nvPr>
            <p:ph type="ftr" idx="4294967295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pic>
        <p:nvPicPr>
          <p:cNvPr id="610" name="Google Shape;610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10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49</a:t>
            </a:fld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019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[1] L. Wu, X. Yang, X. Shi, and C. Ma, "Optimizing prompt efficacy in large language models for fake news detection via evolutionary algorithm-based feature selection," Information Sciences, vol. 720,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01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[2] J. White, Q. Fu, S. Hays, M. Sandborn, C. Olea, H. Gilbert, A. Elnashar, J. Spencer-Smith, and D. Schmidt, "A Prompt Pattern Catalog to Enhance Prompt Engineering with ChatGPT," Vanderbilt University, 2023.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01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[3] B. Chen, Z. Zhang, N. Langrené, and S. Zhu, "Unleashing the potential of prompt engineering for large language models," arXiv:2310.14735v6,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9" name="Google Shape;61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621" name="Google Shape;621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622" name="Google Shape;622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50</a:t>
            </a:fld>
            <a:endParaRPr sz="16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019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[4] Liangguo Wang , Ruoyu Chen and Li Li, "Knowledge-Guided Prompt Learning for Few-Shot Text Classification" electronics,2023.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01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[5] Shailendra Pratap Singha , Naween Kumar b , Gyanendra Kumar c , Ahamed Shafeeq B.M. d, "A hybrid deep learning and differential evolution approach for accurate fake news detection," Systems and Soft Computing,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0193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[6]"Ashish Vaswani, Llion Jones, Noam Shazeer, Aidan N. Gomez,Niki Parmar,Jakob Uszkoreit, Łukasz Kaiser,Illia Polosukhin",Attention Is All You Need,2017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0" name="Google Shape;630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  <p:sp>
        <p:nvSpPr>
          <p:cNvPr id="632" name="Google Shape;632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51</a:t>
            </a:fld>
            <a:endParaRPr sz="1600"/>
          </a:p>
        </p:txBody>
      </p:sp>
      <p:sp>
        <p:nvSpPr>
          <p:cNvPr id="633" name="Google Shape;633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Indian Institute of Information Technology Kottayam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5"/>
          <p:cNvSpPr txBox="1">
            <a:spLocks noGrp="1"/>
          </p:cNvSpPr>
          <p:nvPr>
            <p:ph type="body" idx="1"/>
          </p:nvPr>
        </p:nvSpPr>
        <p:spPr>
          <a:xfrm>
            <a:off x="838200" y="0"/>
            <a:ext cx="10515600" cy="685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6400"/>
              <a:t>THANK YOU</a:t>
            </a:r>
            <a:endParaRPr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3064</Words>
  <Application>Microsoft Office PowerPoint</Application>
  <PresentationFormat>Widescreen</PresentationFormat>
  <Paragraphs>531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Roboto Mono</vt:lpstr>
      <vt:lpstr>Times New Roman</vt:lpstr>
      <vt:lpstr>Office Theme</vt:lpstr>
      <vt:lpstr>In-Context Learning Assisted Prompt Optimization in LLMs for Classification Tasks</vt:lpstr>
      <vt:lpstr> OUTLINE: </vt:lpstr>
      <vt:lpstr>Introduction</vt:lpstr>
      <vt:lpstr> Applications: </vt:lpstr>
      <vt:lpstr>PowerPoint Presentation</vt:lpstr>
      <vt:lpstr>PowerPoint Presentation</vt:lpstr>
      <vt:lpstr>Problem Statement</vt:lpstr>
      <vt:lpstr>Objective of Our Project:</vt:lpstr>
      <vt:lpstr>Architecture:</vt:lpstr>
      <vt:lpstr>Methodology:</vt:lpstr>
      <vt:lpstr>Methodology I: Preprocessing &amp; Reliability</vt:lpstr>
      <vt:lpstr>Methodology II: EFSA (Genetic Feature Selection)</vt:lpstr>
      <vt:lpstr>Dataset Used:</vt:lpstr>
      <vt:lpstr>      Dataset &amp; Train, Validation, Test Splits</vt:lpstr>
      <vt:lpstr>Support Vector Machine (SVM) Model</vt:lpstr>
      <vt:lpstr>SVM Model Features Analysis</vt:lpstr>
      <vt:lpstr>Random Forest Model</vt:lpstr>
      <vt:lpstr>Random Forest Model Features Analysis</vt:lpstr>
      <vt:lpstr>XGBoost Features Analysis</vt:lpstr>
      <vt:lpstr>XGBoost Features Analysis</vt:lpstr>
      <vt:lpstr>Model Results</vt:lpstr>
      <vt:lpstr>Future Work</vt:lpstr>
      <vt:lpstr>How LLMs work</vt:lpstr>
      <vt:lpstr>Advanced Enhancement with In-Context Learning</vt:lpstr>
      <vt:lpstr>How In-Context Learning works</vt:lpstr>
      <vt:lpstr>PowerPoint Presentation</vt:lpstr>
      <vt:lpstr>Recap: Problem Setting &amp; Motivation</vt:lpstr>
      <vt:lpstr>Recap: Methodology &amp; Pipeline Implemented</vt:lpstr>
      <vt:lpstr>Dataset Used:</vt:lpstr>
      <vt:lpstr>Model Results</vt:lpstr>
      <vt:lpstr>How LLMs work</vt:lpstr>
      <vt:lpstr>Base Model</vt:lpstr>
      <vt:lpstr>LLM Fine-Tuning Strategy (Recap)</vt:lpstr>
      <vt:lpstr>Why In-Context Learning (ICL)?</vt:lpstr>
      <vt:lpstr>Results</vt:lpstr>
      <vt:lpstr>In-Context Learning (ICL) Intro</vt:lpstr>
      <vt:lpstr>Retrieval Setup</vt:lpstr>
      <vt:lpstr>Dense Retrieval (Embeddings – multi-qa-MiniLM)</vt:lpstr>
      <vt:lpstr>Dense Retrieval Result Analysis</vt:lpstr>
      <vt:lpstr>2. BM25 Retrieval (Lexical Matching)</vt:lpstr>
      <vt:lpstr>BM25 Retrieval Result Analysis</vt:lpstr>
      <vt:lpstr>3. TF-IDF Retrieval (Vector Space Model)</vt:lpstr>
      <vt:lpstr>TF-IDF Retrieval Result Analysis</vt:lpstr>
      <vt:lpstr>4. SBERT Retrieval (Sentence-Level Transformer Embeddings)</vt:lpstr>
      <vt:lpstr>SBERT Retrieval Result Analysis</vt:lpstr>
      <vt:lpstr>Classical baselines + all ICL methods Results</vt:lpstr>
      <vt:lpstr>Final Result</vt:lpstr>
      <vt:lpstr>Future Work</vt:lpstr>
      <vt:lpstr>Conclusion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917350342692</cp:lastModifiedBy>
  <cp:revision>1</cp:revision>
  <dcterms:modified xsi:type="dcterms:W3CDTF">2026-05-04T08:47:26Z</dcterms:modified>
</cp:coreProperties>
</file>